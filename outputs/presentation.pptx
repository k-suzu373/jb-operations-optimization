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JR中央・総武線（各駅停車）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車両運用スケジュール最適化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4B084"/>
                </a:solidFill>
              </a:defRPr>
            </a:pPr>
            <a:r>
              <a:t>～ 制約プログラミング（CP-SAT）による30日間スケジュール自動生成 ～</a:t>
            </a:r>
          </a:p>
          <a:p/>
          <a:p>
            <a:pPr algn="ctr">
              <a:defRPr sz="2400">
                <a:solidFill>
                  <a:srgbClr val="FFFFFF"/>
                </a:solidFill>
              </a:defRPr>
            </a:pPr>
            <a:r>
              <a:t>鈴木 皓太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1. 成果物概要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2. 背景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3. 目的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4. アプローチ方法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5. 使用データ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6. 結果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7. 考察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8. 工夫点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9. 苦労点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10. 今後の施策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1. 成果物概要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JR中央・総武線（各駅停車）の車両編成の運用スケジュールを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制約プログラミング（CP-SAT）を用いて自動最適化するシステムを開発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【主な機能】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30日間の運用スケジュールを自動生成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検査期限（A検査・B検査）を厳守した割当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走行距離の偏りを最小化し編成間の均等化を実現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回送（デッドヘッド）の最小化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Excel / Plotly による可視化出力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1. 成果物概要（システム構成）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228600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4F8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【入力】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master_data.xlsx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・operations（運用一覧）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・formations（編成一覧）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・rules（検査ルール）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474720" cy="228600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4F8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【処理】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jb-operations.py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・翌日固定運用の割当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・B検査優先割当（CP-SAT）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・A検査優先割当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・残り運用のCP-SAT最適化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・待機運用の割当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371600"/>
            <a:ext cx="3200400" cy="228600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4F8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【出力】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baseline_output.xlsx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・schedule_long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・gantt_ops / gantt_loc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・gantt_triplet</a:t>
            </a:r>
          </a:p>
          <a:p>
            <a:pPr algn="l">
              <a:defRPr sz="1400">
                <a:solidFill>
                  <a:srgbClr val="333333"/>
                </a:solidFill>
              </a:defRPr>
            </a:pPr>
            <a:r>
              <a:t>・schedule_view.html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1031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F82EA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1031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F82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技術スタック: Python 3.10+ / Google OR-Tools (CP-SAT) / pandas / openpyxl / Plotly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2.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鉄道の車両運用計画は、複数の制約を同時に満たす必要がある複雑な組合せ最適化問題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【現状の課題】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車両編成ごとにA検査（7～10日周期）・B検査（20日以上周期）の期限管理が必要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B検査には走行距離の上限制約もあり、手作業での計画立案は困難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回送（デッドヘッド）を減らしつつ、走行距離を均等にする必要がある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翌日固定運用（47B→49B 等）などの業務ルールも考慮が必要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→ これらを手作業で行うと膨大な時間がかかり、最適解を見つけることが難しい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 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制約プログラミング（CP-SAT）を活用して、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複数の制約を同時に満たす30日間の車両運用スケジュールを自動生成する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【具体的な目標】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検査期限（A検査・B検査）を100%遵守するスケジュールの生成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走行距離の偏りを最小化し、編成間の公平性を担保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回送（デッドヘッド）回数を最小化し、効率的な運用を実現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Excel・HTMLによる見やすいアウトプットの提供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 アプローチ方法（全体フロー）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多段階の割当アルゴリズムで、優先度の高い制約から順に処理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0: 翌日固定運用の割当（47B→49B, 53B→55B 等）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前日の運用から翌日が確定している組み合わせを最優先で割当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1: B検査の優先割当（CP-SAT）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B検査から20日以上経過した編成を、検査可能な運用に優先的に割当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距離・日数が逼迫している編成ほど高い優先度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2: A検査の優先割当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A検査から6～7日経過した編成を、検査可能駅（三鷹・中野・津田沼）始発の運用へ割当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 アプローチ方法（CP-SAT最適化）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3: 残り運用のCP-SAT最適化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未割当の必須運用を残りの編成にCP-SATで割当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【目的関数（最小化）】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走行距離の偏り（max - min）: 重み 1000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検査期限超過: 重み 100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デッドヘッド回数: 重み 10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【主な制約条件】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各運用に1編成のみ割当（1対1）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各編成に最大1運用のみ（1日1運用）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B検査後の累積走行距離が上限を超えないこと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4: 余り編成は現在位置に応じた待機運用（IDOL_*）を割当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5. 使用データ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4F8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500">
                <a:solidFill>
                  <a:srgbClr val="333333"/>
                </a:solidFill>
              </a:defRPr>
            </a:pPr>
            <a:r>
              <a:t>operations（運用マスタ）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・operation_id: 運用番号（53B, IDOL_Mitaka 等）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・required: 必須フラグ（1=毎日必要）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・is_inspection_B: B検査可能フラグ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・start_loc / end_loc: 始発駅・終着駅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・distance_km: 走行距離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303520" cy="256032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4F8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500">
                <a:solidFill>
                  <a:srgbClr val="333333"/>
                </a:solidFill>
              </a:defRPr>
            </a:pPr>
            <a:r>
              <a:t>formations（編成マスタ）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・formation_id: 編成番号（A501, A502 等）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・init_location: 初期位置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・init_days_since_inspectionA/B: 検査経過日数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・init_distance_since_inspectionB_km: B検査後距離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5303520" cy="201168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4F8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500">
                <a:solidFill>
                  <a:srgbClr val="333333"/>
                </a:solidFill>
              </a:defRPr>
            </a:pPr>
            <a:r>
              <a:t>rules（検査ルール）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・max_days_since_inspectionA: A検査の最大経過日数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・max_days_since_inspectionB: B検査の最大経過日数</a:t>
            </a:r>
          </a:p>
          <a:p>
            <a:pPr algn="l">
              <a:defRPr sz="1500">
                <a:solidFill>
                  <a:srgbClr val="333333"/>
                </a:solidFill>
              </a:defRPr>
            </a:pPr>
            <a:r>
              <a:t>・max_distance_since_inspectionB: B検査後の最大走行距離(km)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389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入力ファイル: data/master_data.xlsx（3シート構成）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6. 結果（スケジュール出力）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30日間の全編成運用スケジュールを自動生成に成功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【出力シート一覧】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schedule_long: 全割当のロングフォーマット（1行=1編成×1日）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gantt_ops: 編成×日のガントチャート（運用番号）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gantt_loc: 始発駅→終着駅の位置ガント（駅別色分け）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gantt_triplet: 運用番号 + 始発/終着の3列表示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gantt_inspection_triplet: 検査状態の推移（daysA, daysB, distB_km）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【可視化】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Plotlyによるインタラクティブなヒートマップ（HTML出力）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セル色で始発駅を識別、赤枠でデッドヘッドを強調表示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6. 結果（達成指標）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【検査期限の遵守】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A検査・B検査ともに期限超過ゼロを達成（overdueA=0, overdueB=0）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B検査の走行距離上限も全日程で遵守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【走行距離の均等化】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目的関数で max(total_km) - min(total_km) を最小化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全編成間の走行距離の偏りを抑制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【回送の抑制】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翌日固定運用やA/B検査の優先割当により、回送回数を削減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駅の近接ペア（JB33-JB30, JB33-JB35）は回送扱いしない例外ルールを適用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7. 考察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【多段階アルゴリズムの有効性】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固定運用→B検査→A検査→CP-SAT の順で処理することで、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優先度の高い制約を確実に満たしつつ、残りを最適化できた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【CP-SATの適用効果】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走行距離の均等化と回送最小化を同時に達成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重み付き目的関数（W_RANGE=1000, W_OVD=100, W_DEADHEAD=10）で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距離均等化を最優先にしたことが結果に良い影響を与えた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【課題】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計算時間はデフォルト設定で十分短いが、編成数・運用数が増えると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CP-SATの探索空間が拡大し、解の品質とのトレードオフが発生する可能性がある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8. 工夫点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【アルゴリズム面】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多段階割当: 固定→検査B→検査A→CP-SAT→待機 の5フェーズに分割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B検査の優先割当にもCP-SATを使用し、距離・日数が逼迫した編成を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自動的に検査運用に誘導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A検査は始発駅マッチング（三鷹・中野・津田沼）で回送を抑制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【データ設計】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駅名のナンバリング変換（三鷹→JB01, 中野→JB07 等）で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日本語/英語/コードのいずれでも入力可能に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回送の例外ルール（近接駅ペア、固定運用チェーン）をデータとして定義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8. 工夫点（可視化・出力）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【Excel出力の工夫】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駅コード別の色分け（三鷹=紺, 中野=水色, 御茶ノ水=オレンジ, 千葉=紫）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ヘッダ固定・フィルター・列幅自動調整で実用的なシートを出力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ガントチャート形式で日×編成の一覧性を確保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検査状態トリプレット表示（daysA, daysB, distB_km）で安全性を可視化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【Plotly可視化】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ヒートマップ + ホバー表示で運用・始発駅・終着駅を確認可能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デッドヘッドのセルを赤枠で強調表示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HTMLラッパーで縦スクロール対応（大量の編成でも閲覧可能）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9. 苦労点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【CP-SATの制約設計】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走行距離の均等化（range最小化）とデッドヘッド最小化は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相反する場合があり、重みの調整に試行錯誤が必要だった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B検査の距離上限制約を追加した際、割当不能になるケースが発生し、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フェーズ間の連携（B検査割当→残り割当）の順序設計に苦労した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【検査ロジックの複雑さ】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A検査は日数リセット、B検査は日数+距離リセットと条件が異なり、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状態管理（FormationState）の更新タイミングの整合性確保が難しかった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「検査成立→リセット→距離加算→日末+1」の順序を間違えると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結果が大きく変わるため、デバッグに時間がかかった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9. 苦労点（データ・可視化）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【データの整合性】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駅名の表記揺れ（日本語 / 英語 / ナンバリング）への対応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Excel入力時の型不一致（数値/文字列）の吸収処理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マスターデータの必須列チェックとエラーメッセージの設計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【Excel出力のフォーマット】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openpyxlでの複雑なセル書式設定（結合・罫線・色分け）に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多くのコードが必要になり、可読性の維持に苦労した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ガントチャートの3列/4列トリプレット表示の罫線処理が複雑だった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10. 今後の施策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【機能拡張】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ダイヤ改正への対応（運用パターンの動的切り替え）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複数路線への展開（他のJR路線への適用検討）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臨時ダイヤ・運休時の再スケジューリング機能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【最適化の改善】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CP-SATのタイムリミット設定と解の品質モニタリング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目的関数の重みを動的に調整する仕組みの導入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より長期間（60日・90日）のスケジュール生成への対応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【UI/UX】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Webアプリ化（Streamlit等）でブラウザから操作可能に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マスターデータの入力バリデーション強化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スケジュール結果のダッシュボード表示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